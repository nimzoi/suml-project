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92608" cy="6858000"/>
          </a:xfrm>
          <a:prstGeom prst="round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5400" b="1">
                <a:solidFill>
                  <a:srgbClr val="FFFFFF"/>
                </a:solidFill>
                <a:latin typeface="Trebuchet MS"/>
              </a:rPr>
              <a:t>Wycena laptopa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CADCFC"/>
                </a:solidFill>
                <a:latin typeface="Calibri"/>
              </a:rPr>
              <a:t>Aplikacja, która szacuje cenę laptopa na podstawie jego specyfikacji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SUML — Środowiska uruchomieniowe ML · PJATK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CADCFC"/>
                </a:solidFill>
                <a:latin typeface="Calibri"/>
              </a:rPr>
              <a:t>Grupa: [numery indeksów]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>
                <a:solidFill>
                  <a:srgbClr val="1E2761"/>
                </a:solidFill>
                <a:latin typeface="Trebuchet MS"/>
              </a:rPr>
              <a:t>Co to robi i po 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800" b="0">
                <a:solidFill>
                  <a:srgbClr val="222233"/>
                </a:solidFill>
                <a:latin typeface="Calibri"/>
              </a:rPr>
              <a:t>•  Szacuje cenę laptopa na podstawie specyfikacji: marki, typu, RAM, dysków, ekranu, CPU/GPU.</a:t>
            </a:r>
          </a:p>
          <a:p>
            <a:pPr algn="l">
              <a:spcAft>
                <a:spcPts val="1600"/>
              </a:spcAft>
            </a:pPr>
            <a:r>
              <a:rPr sz="1800" b="0">
                <a:solidFill>
                  <a:srgbClr val="222233"/>
                </a:solidFill>
                <a:latin typeface="Calibri"/>
              </a:rPr>
              <a:t>•  Wartość: trafna cena = szybsza sprzedaż i lepsza marża.</a:t>
            </a:r>
          </a:p>
          <a:p>
            <a:pPr algn="l">
              <a:spcAft>
                <a:spcPts val="1600"/>
              </a:spcAft>
            </a:pPr>
            <a:r>
              <a:rPr sz="1800" b="0">
                <a:solidFill>
                  <a:srgbClr val="222233"/>
                </a:solidFill>
                <a:latin typeface="Calibri"/>
              </a:rPr>
              <a:t>•  Dla sklepów, platform marketplace i skupu sprzętu używanego.</a:t>
            </a:r>
          </a:p>
        </p:txBody>
      </p:sp>
      <p:pic>
        <p:nvPicPr>
          <p:cNvPr id="5" name="Picture 4" descr="feature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920240"/>
            <a:ext cx="45720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>
                <a:solidFill>
                  <a:srgbClr val="1E2761"/>
                </a:solidFill>
                <a:latin typeface="Trebuchet MS"/>
              </a:rPr>
              <a:t>Proste w użyciu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1206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800" b="0">
                <a:solidFill>
                  <a:srgbClr val="222233"/>
                </a:solidFill>
                <a:latin typeface="Calibri"/>
              </a:rPr>
              <a:t>•  Otwierasz stronę, wpisujesz specyfikację, klikasz — cena w sekundę.</a:t>
            </a:r>
          </a:p>
          <a:p>
            <a:pPr algn="l">
              <a:spcAft>
                <a:spcPts val="1600"/>
              </a:spcAft>
            </a:pPr>
            <a:r>
              <a:rPr sz="1800" b="0">
                <a:solidFill>
                  <a:srgbClr val="222233"/>
                </a:solidFill>
                <a:latin typeface="Calibri"/>
              </a:rPr>
              <a:t>•  Bez instalacji i bez znajomości kodu.</a:t>
            </a:r>
          </a:p>
          <a:p>
            <a:pPr algn="l">
              <a:spcAft>
                <a:spcPts val="1600"/>
              </a:spcAft>
            </a:pPr>
            <a:r>
              <a:rPr sz="1800" b="0">
                <a:solidFill>
                  <a:srgbClr val="222233"/>
                </a:solidFill>
                <a:latin typeface="Calibri"/>
              </a:rPr>
              <a:t>•  Dla integracji z innymi systemami: gotowe API.</a:t>
            </a:r>
          </a:p>
        </p:txBody>
      </p:sp>
      <p:pic>
        <p:nvPicPr>
          <p:cNvPr id="5" name="Picture 4" descr="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463040"/>
            <a:ext cx="5486400" cy="38576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>
                <a:solidFill>
                  <a:srgbClr val="1E2761"/>
                </a:solidFill>
                <a:latin typeface="Trebuchet MS"/>
              </a:rPr>
              <a:t>Na ile trafne?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3108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800" b="1">
                <a:solidFill>
                  <a:srgbClr val="028090"/>
                </a:solidFill>
                <a:latin typeface="Trebuchet MS"/>
              </a:rPr>
              <a:t>~85%</a:t>
            </a:r>
          </a:p>
          <a:p>
            <a:pPr algn="ctr"/>
            <a:r>
              <a:rPr sz="1300">
                <a:solidFill>
                  <a:srgbClr val="5A6378"/>
                </a:solidFill>
                <a:latin typeface="Calibri"/>
              </a:rPr>
              <a:t>zmienności ceny
wyjaśnia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80560"/>
            <a:ext cx="4754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5A6378"/>
                </a:solidFill>
                <a:latin typeface="Calibri"/>
              </a:rPr>
              <a:t>Gwarancja: więcej RAM/SSD/lepszy CPU → nigdy niższa cena. Najważniejsze cechy: RAM, SSD, typ.</a:t>
            </a:r>
          </a:p>
        </p:txBody>
      </p:sp>
      <p:pic>
        <p:nvPicPr>
          <p:cNvPr id="6" name="Picture 5" descr="feat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920240"/>
            <a:ext cx="5669280" cy="323958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>
                <a:solidFill>
                  <a:srgbClr val="1E2761"/>
                </a:solidFill>
                <a:latin typeface="Trebuchet MS"/>
              </a:rPr>
              <a:t>Model nadąża za rynkiem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800" b="0">
                <a:solidFill>
                  <a:srgbClr val="222233"/>
                </a:solidFill>
                <a:latin typeface="Calibri"/>
              </a:rPr>
              <a:t>•  Ceny się zmieniają (nowe modele, sezon, promocje) — model można dotrenować.</a:t>
            </a:r>
          </a:p>
          <a:p>
            <a:pPr algn="l">
              <a:spcAft>
                <a:spcPts val="1600"/>
              </a:spcAft>
            </a:pPr>
            <a:r>
              <a:rPr sz="1800" b="0">
                <a:solidFill>
                  <a:srgbClr val="222233"/>
                </a:solidFill>
                <a:latin typeface="Calibri"/>
              </a:rPr>
              <a:t>•  Dotrenowanie = podmiana pliku z danymi i jedno uruchomienie. Bez zmian w kodzie.</a:t>
            </a:r>
          </a:p>
          <a:p>
            <a:pPr algn="l">
              <a:spcAft>
                <a:spcPts val="1600"/>
              </a:spcAft>
            </a:pPr>
            <a:r>
              <a:rPr sz="1800" b="0">
                <a:solidFill>
                  <a:srgbClr val="222233"/>
                </a:solidFill>
                <a:latin typeface="Calibri"/>
              </a:rPr>
              <a:t>•  Dzięki temu wycena pozostaje aktualna.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754880"/>
            <a:ext cx="10515600" cy="1005840"/>
          </a:xfrm>
          <a:prstGeom prst="round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/>
          <a:lstStyle/>
          <a:p>
            <a:pPr algn="ctr"/>
            <a:r>
              <a:rPr sz="2200" b="1">
                <a:solidFill>
                  <a:srgbClr val="FFFFFF"/>
                </a:solidFill>
                <a:latin typeface="Trebuchet MS"/>
              </a:rPr>
              <a:t>Dotrenowanie = nowe dane + 1 komenda → świeży model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>
                <a:solidFill>
                  <a:srgbClr val="1E2761"/>
                </a:solidFill>
                <a:latin typeface="Trebuchet MS"/>
              </a:rPr>
              <a:t>Dla ludzi i dla systemów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2120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52400" bIns="152400"/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761"/>
                </a:solidFill>
                <a:latin typeface="Trebuchet MS"/>
              </a:rPr>
              <a:t>Strona (dla ludzi)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•  Formularz w przeglądarce → cena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•  Dla pracowników i klientów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•  Działa też samodzielnie w chmurze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828800"/>
            <a:ext cx="52120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52400" bIns="152400"/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761"/>
                </a:solidFill>
                <a:latin typeface="Trebuchet MS"/>
              </a:rPr>
              <a:t>API (dla systemów)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•  Integracja z e-commerce / ERP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•  Zwraca cenę w formacie JSON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•  Interaktywna dokumentacja online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>
                <a:solidFill>
                  <a:srgbClr val="1E2761"/>
                </a:solidFill>
                <a:latin typeface="Trebuchet MS"/>
              </a:rPr>
              <a:t>Uruchomienie: jedna komenda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800" b="0">
                <a:solidFill>
                  <a:srgbClr val="222233"/>
                </a:solidFill>
                <a:latin typeface="Calibri"/>
              </a:rPr>
              <a:t>•  docker compose up — i działa, na każdym komputerze.</a:t>
            </a:r>
          </a:p>
          <a:p>
            <a:pPr algn="l">
              <a:spcAft>
                <a:spcPts val="1600"/>
              </a:spcAft>
            </a:pPr>
            <a:r>
              <a:rPr sz="1800" b="0">
                <a:solidFill>
                  <a:srgbClr val="222233"/>
                </a:solidFill>
                <a:latin typeface="Calibri"/>
              </a:rPr>
              <a:t>•  Zero konfiguracji systemu; zależności instalują się same.</a:t>
            </a:r>
          </a:p>
          <a:p>
            <a:pPr algn="l">
              <a:spcAft>
                <a:spcPts val="1600"/>
              </a:spcAft>
            </a:pPr>
            <a:r>
              <a:rPr sz="1800" b="0">
                <a:solidFill>
                  <a:srgbClr val="222233"/>
                </a:solidFill>
                <a:latin typeface="Calibri"/>
              </a:rPr>
              <a:t>•  Łatwe przeniesienie i odtworzenie środowiska.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754880"/>
            <a:ext cx="10515600" cy="1005840"/>
          </a:xfrm>
          <a:prstGeom prst="round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/>
          <a:lstStyle/>
          <a:p>
            <a:pPr algn="ctr"/>
            <a:r>
              <a:rPr sz="2200" b="1">
                <a:solidFill>
                  <a:srgbClr val="FFFFFF"/>
                </a:solidFill>
                <a:latin typeface="Trebuchet MS"/>
              </a:rPr>
              <a:t>Jedna komenda uruchamia całość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>
                <a:solidFill>
                  <a:srgbClr val="1E2761"/>
                </a:solidFill>
                <a:latin typeface="Trebuchet MS"/>
              </a:rPr>
              <a:t>Zastosowania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2120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52400" bIns="152400"/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761"/>
                </a:solidFill>
                <a:latin typeface="Trebuchet MS"/>
              </a:rPr>
              <a:t>Sprzedaż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•  Szybka wstępna wycena oferty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•  Weryfikacja, czy cena jest rynkowa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•  Spójne ceny w całym zespole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828800"/>
            <a:ext cx="52120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52400" bIns="152400"/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761"/>
                </a:solidFill>
                <a:latin typeface="Trebuchet MS"/>
              </a:rPr>
              <a:t>Skup i integracja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•  Wycena sprzętu używanego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•  Wsparcie negocjacji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•  Automatyczna wycena przez API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>
                <a:solidFill>
                  <a:srgbClr val="1E2761"/>
                </a:solidFill>
                <a:latin typeface="Trebuchet MS"/>
              </a:rPr>
              <a:t>Solidne i gotowe do utrzymania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2194560"/>
            <a:ext cx="31089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800" b="1">
                <a:solidFill>
                  <a:srgbClr val="028090"/>
                </a:solidFill>
                <a:latin typeface="Trebuchet MS"/>
              </a:rPr>
              <a:t>10/10</a:t>
            </a:r>
          </a:p>
          <a:p>
            <a:pPr algn="ctr"/>
            <a:r>
              <a:rPr sz="1300">
                <a:solidFill>
                  <a:srgbClr val="5A6378"/>
                </a:solidFill>
                <a:latin typeface="Calibri"/>
              </a:rPr>
              <a:t>jakość kodu (pylint)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0" y="2194560"/>
            <a:ext cx="31089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800" b="1">
                <a:solidFill>
                  <a:srgbClr val="028090"/>
                </a:solidFill>
                <a:latin typeface="Trebuchet MS"/>
              </a:rPr>
              <a:t>28</a:t>
            </a:r>
          </a:p>
          <a:p>
            <a:pPr algn="ctr"/>
            <a:r>
              <a:rPr sz="1300">
                <a:solidFill>
                  <a:srgbClr val="5A6378"/>
                </a:solidFill>
                <a:latin typeface="Calibri"/>
              </a:rPr>
              <a:t>testów automatycznych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2194560"/>
            <a:ext cx="31089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800" b="1">
                <a:solidFill>
                  <a:srgbClr val="028090"/>
                </a:solidFill>
                <a:latin typeface="Trebuchet MS"/>
              </a:rPr>
              <a:t>CI</a:t>
            </a:r>
          </a:p>
          <a:p>
            <a:pPr algn="ctr"/>
            <a:r>
              <a:rPr sz="1300">
                <a:solidFill>
                  <a:srgbClr val="5A6378"/>
                </a:solidFill>
                <a:latin typeface="Calibri"/>
              </a:rPr>
              <a:t>automatyczna kontrola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389120"/>
            <a:ext cx="10972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Czysty, modularny kod (data | model | app) i pełna dokumentacja.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Powtarzalne środowisko — łatwe w rozwoju i utrzymaniu.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92608" cy="6858000"/>
          </a:xfrm>
          <a:prstGeom prst="round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>
                <a:solidFill>
                  <a:srgbClr val="FFFFFF"/>
                </a:solidFill>
                <a:latin typeface="Trebuchet MS"/>
              </a:rPr>
              <a:t>Podsumowanie i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4241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900" b="0">
                <a:solidFill>
                  <a:srgbClr val="CADCFC"/>
                </a:solidFill>
                <a:latin typeface="Calibri"/>
              </a:rPr>
              <a:t>•  Demo na żywo: wpisujemy specyfikację → otrzymujemy cenę.</a:t>
            </a:r>
          </a:p>
          <a:p>
            <a:pPr algn="l">
              <a:spcAft>
                <a:spcPts val="1600"/>
              </a:spcAft>
            </a:pPr>
            <a:r>
              <a:rPr sz="1900" b="0">
                <a:solidFill>
                  <a:srgbClr val="CADCFC"/>
                </a:solidFill>
                <a:latin typeface="Calibri"/>
              </a:rPr>
              <a:t>•  Łatwe w użyciu, trafne (~85%), gotowe do dotrenowania i integracji.</a:t>
            </a:r>
          </a:p>
          <a:p>
            <a:pPr algn="l">
              <a:spcAft>
                <a:spcPts val="1600"/>
              </a:spcAft>
            </a:pPr>
            <a:r>
              <a:rPr sz="1900" b="0">
                <a:solidFill>
                  <a:srgbClr val="CADCFC"/>
                </a:solidFill>
                <a:latin typeface="Calibri"/>
              </a:rPr>
              <a:t>•  Repo: github.com/nimzoi/SUML-project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48640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FFFFFF"/>
                </a:solidFill>
                <a:latin typeface="Trebuchet MS"/>
              </a:rPr>
              <a:t>Dziękujemy — pytania?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